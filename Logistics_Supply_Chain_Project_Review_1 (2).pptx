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5"/>
  </p:notesMasterIdLst>
  <p:handoutMasterIdLst>
    <p:handoutMasterId r:id="rId16"/>
  </p:handoutMasterIdLst>
  <p:sldIdLst>
    <p:sldId id="258" r:id="rId3"/>
    <p:sldId id="377" r:id="rId4"/>
    <p:sldId id="391" r:id="rId5"/>
    <p:sldId id="392" r:id="rId6"/>
    <p:sldId id="393" r:id="rId7"/>
    <p:sldId id="394" r:id="rId8"/>
    <p:sldId id="395" r:id="rId9"/>
    <p:sldId id="396" r:id="rId10"/>
    <p:sldId id="398" r:id="rId11"/>
    <p:sldId id="397" r:id="rId12"/>
    <p:sldId id="374" r:id="rId13"/>
    <p:sldId id="33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479D78E-41F3-A1F4-EC04-02F424684A7A}" name="usha rani" initials="ur" userId="ac3da7c9ac03e58b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066899-C096-4686-B300-E1D6AA42CDE9}" v="18" dt="2026-07-02T16:12:21.471"/>
    <p1510:client id="{E9B0078F-71CD-40F1-B7A0-85484F5377DB}" v="8" dt="2026-07-03T06:55:41.5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370" autoAdjust="0"/>
    <p:restoredTop sz="95033" autoAdjust="0"/>
  </p:normalViewPr>
  <p:slideViewPr>
    <p:cSldViewPr snapToGrid="0" snapToObjects="1">
      <p:cViewPr varScale="1">
        <p:scale>
          <a:sx n="69" d="100"/>
          <a:sy n="69" d="100"/>
        </p:scale>
        <p:origin x="52" y="16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0094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microsoft.com/office/2015/10/relationships/revisionInfo" Target="revisionInfo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FD0E32-84B7-61F7-BC6E-7F3D3E58F4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8D96D9-5F98-A44D-2018-D6A2A308A4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F6064-4237-BA4C-A655-B64A9E0DF723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3AFF6-B32C-BF80-479E-15EDD755C5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1E1A79-2016-95C1-5829-B295A2C985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BAABA-A336-9B4F-BB34-8D7F4005576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12229D-753E-D112-EA38-F8EB6301E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16374" cy="45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5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220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7103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89486-861A-2ECA-4D40-39E5F67E8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C5A513-C79F-B540-0019-433BDBACF3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E0A3D1-26CD-4F17-E4CA-311B4310EE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6467B8-2D06-EBB4-C77E-EA980BEAC2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1947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4FB51-0CCD-7E30-006C-24572EE0C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5B3405-B72E-77E8-AC88-39C8BF27F8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247CED-38BD-61BC-C289-9935025A3D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3F3921-5CCB-99B2-BEAE-679945FC10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306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1CFD8-ECD5-0783-2AB0-ACFC3273E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C7F17B-D2F6-662D-52FF-83B2BA2D25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65DD85-E53A-AA51-8A24-6FD75FA0A7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BC8F9F-8E69-312B-01C2-05B902ACFE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2778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A3961-5DE8-686E-3894-1EC4CE358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96716B-DE78-BE6A-065C-700B8CB017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D0C432-4A58-F09A-00A6-554859B76F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64D428-282E-3F76-CEAD-7497380C20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4594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577CB-4429-8372-ECF7-B3B85B0AA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5E879B-CAC4-B338-544C-CF4E8482F2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AC0575-544B-58B3-87C9-8D914A1D0D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215F5-CFE1-7F26-9CD8-10AC466630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944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44B66-EC91-2BD6-7D3F-FB9E75F43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10EFCE-537F-8314-27E9-BA17DC4235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71D28A-95EE-C579-9938-AA57244874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DA88E0-9C15-85FD-D2EF-741091DD3E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4067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92C9F-32E2-1DF3-D933-ED26BBAAB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CBD77D-896E-36B8-476D-3DB9858E94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481400-FC6F-EC9E-B10C-065E4BC062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4178FD-5294-B25F-1455-AC41BC9942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3325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A88E8-8740-3949-BE64-BB62EA08D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22BF00-6CFB-1C09-C3B7-8F0F835403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9D5D7B-5FA1-6B53-71F8-A93818030C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43D1A-5BCA-DD1F-4EB8-C6373CACAA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928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27E06-5BF0-54B9-FB5D-CFB52D43B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EA4E6-D507-DC8D-31AA-A4CB32D7CE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99788-2E86-FADA-072C-884B02615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A504A-D052-4F2D-906E-4CCCD67E5352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D1ADA-8991-D408-DA0A-FE3B043FE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DF78D-056F-7C9E-8F10-682094624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291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DA370-C77E-4354-33A4-1D2D9DDD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FE7F8-1A57-17F5-243A-454005CCD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AE72D-6D76-FAB8-D597-99BF2087A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47009-55DF-4EA5-900B-29AFB7C8438A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60C41-C703-1443-60E7-2BEF34D36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B3600-770E-6D67-2A66-D2FECF5D3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776DCD-546C-A1AC-C961-3F3EEC504416}"/>
              </a:ext>
            </a:extLst>
          </p:cNvPr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641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5DA9-698C-D133-BCF7-93A02E210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85215-9C62-1486-DEC7-AF8E59725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292FD-C465-3FCB-1CEB-331C31A97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8B550-430E-4E00-8584-398912EDCDA8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96C18-4538-A1F2-0B35-7684E5B30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5BEFA-16A3-B084-9011-B7E85C9C9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370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3A91F-6631-AA20-E58B-064235B6D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029CD-C8C6-CEFE-D059-40BEA2997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5D9AB-9E5E-59E2-9DA3-6C54D45EA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C372B-55E2-4467-1C5C-88EAE7283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515C1-FC0C-48DC-AA13-5A7440F04A46}" type="datetime1">
              <a:rPr lang="en-IN" smtClean="0"/>
              <a:t>18-08-2026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897BD-CB93-AC5A-9B15-FD7F4D952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540F5-8BB9-4C4C-626E-5D45C97E3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253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68A3B-B4EE-2816-3ADC-193854142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AF86E-35F8-453B-F58E-48D8C4903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D8923-FBC0-8866-8350-696FB3D22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45281-3CB5-361A-7D56-C6E37E290D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F62343-9DB8-07DC-AD19-22AE6A7E5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EB0191-CD7B-6170-8655-A3CD1009B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4A9D0-F765-45B1-928F-556B91D2C522}" type="datetime1">
              <a:rPr lang="en-IN" smtClean="0"/>
              <a:t>18-08-2026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80C4C-B6E8-81B1-E2F5-D6264E3F6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C8B11F-5860-03B4-E71F-3467444F9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0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7A6C5-1A49-C01E-B839-45967150D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C47471-9D6F-27AE-9B05-71D6BF96E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F3-7E24-4BDE-BB37-BD18A6966701}" type="datetime1">
              <a:rPr lang="en-IN" smtClean="0"/>
              <a:t>18-08-2026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AFD67-19CE-C1CD-207C-EF612C5A6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D7506-CEE9-31E5-7D10-A0BD1B2B0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88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2BBBBF-B095-FC7E-61BE-572DFB7B1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13449-4DF0-4F1F-A3E4-097B1714C7C4}" type="datetime1">
              <a:rPr lang="en-IN" smtClean="0"/>
              <a:t>18-08-2026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7555D4-8ECB-AFFE-0E72-A206E4098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9EB7F-0F36-6AF2-5A6E-D350360EF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975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3453-54A8-457E-0F66-9BE958D91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E50AE-B8BE-E1FF-F3BA-809308221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DA6038-C8B1-F7F2-5CA8-15CFE38CB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97CAE-AF61-8AFD-5350-97D8044E1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4166F-CD67-4CEB-8DD7-1E38016562AC}" type="datetime1">
              <a:rPr lang="en-IN" smtClean="0"/>
              <a:t>18-08-2026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E989E-AF43-DFDB-D9DD-E85DED3C0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FBCAA9-93EB-8A4D-BB9C-2479D5935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423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CE57A-1FB8-E230-296B-702500A0D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470CF4-1245-8E91-196B-2297C07C97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C54EA7-CAD7-C04A-6487-F7D166033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31731-B315-1CCB-7EEF-B7C7EC92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8F83E-6F8A-4D66-8D97-D167DE305BE2}" type="datetime1">
              <a:rPr lang="en-IN" smtClean="0"/>
              <a:t>18-08-2026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DE31E-F8C7-4C00-C40D-FE2821B70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7C9369-3918-E39E-9B60-A57179D04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463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9F7F1-0136-E40C-5B0F-C1D42F6EF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8B89F-EA4C-AA4F-0EB2-C715E5B0D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2AEC3-3D5C-B4D8-ADAC-C6249EB4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A3A21-9775-4B2C-9B39-32116406212C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9FED2-229B-3728-C7BA-7E8D51577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B8F22-95FA-4A5E-31CC-C3851B52E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613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6F1B25-2FA5-C4F6-09E8-D6F7A8DF83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1113B0-02D5-BBE3-31A5-473961629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CAE10-6B7D-C48F-F3FF-419AD4413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ABDC8-9AAF-4B62-9540-4EA826AA678B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2D582-0634-2511-6F7E-7229EC072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AE7E1-0525-6C8B-2077-B55EFBEA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250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2A4A3-2E21-E418-73DE-E22247EE4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C87DE1-CAF2-229C-5776-9562B7956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54DD8-14C4-ACB8-D444-27F005A4C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21C3-0F1A-498D-9F2E-D10FACA35B86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BF891-4BCD-EC21-1259-8661D36C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951AF-D1A2-07A4-0B2A-7E9D6B416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52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CBFB9-B574-3DEB-F162-FE89B3802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4B0E9-24AC-9760-0CBD-E5D0888E3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41205-CA2E-9649-1960-8F17E0E6D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9A7DA-FCDD-43FA-8A0C-6A5B2B391695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02BAD-D0DE-F254-BBD1-2AFE276B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87769-B833-24E6-E30B-DCE74558A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192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24CF5-AE66-5FEF-8EEC-A630C8B29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28CE2-68D8-267B-C297-6117F0736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5FFB0-0F78-AEB8-5AFB-EC779B961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D4BE-274D-4073-90F9-6DE45B427D7A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3BE8E-E2EB-A8B6-21DD-9AB839A58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BE51E-49C9-6B3A-1C46-49212B576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376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3AF32-49A3-7BB1-C7E7-6C5D90D17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51BE1-060E-F420-83BA-C8AE9151CF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265B4-44BE-C9BD-56AD-24359969A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62ECC-3BDB-BEA4-4B7F-1545B0DC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D2526-BF89-47C7-96E6-5B804E43EF11}" type="datetime1">
              <a:rPr lang="en-IN" smtClean="0"/>
              <a:t>18-08-2026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99311-B569-3D99-B257-5CEB03A68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E828AD-34AD-9A23-4FFC-4C32387C9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661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56895-A3B7-F0FB-3CBE-59E564F22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9C285-ECC0-3375-66EF-B240D726B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B153A-9265-EAEC-A55D-251905733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E62BD6-069B-567C-13A2-AD51A312FB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0CFDC1-AF24-C301-0A26-DA099D8FF3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2CB484-D858-5027-D2CF-125E103D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27929-B24E-4CA0-A508-395AF785C673}" type="datetime1">
              <a:rPr lang="en-IN" smtClean="0"/>
              <a:t>18-08-2026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CD1DFD-AA21-1102-AD58-F0AB4361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58466D-C960-00E9-B91E-E20525158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166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5EEF4A-08C3-1725-4505-63B90332E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D38A5-B84E-8DCB-3CEA-900D45C85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F078D-01B0-9071-5546-6BFF4A071C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A717A7-838C-4809-BC62-F129B310B950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63510-A0D8-83AF-2345-E0A8B79D5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51A12-6174-66E3-0415-DA607E50C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827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B26EC2-0EF8-2F89-DF64-2685FD639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29FC3-B99D-0056-3798-159705D11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9F1E1-99D3-E959-A91B-BD6DF2599B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DDB2A2-8993-4CD1-B936-8FCCA45C385B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C7260-A9B7-9847-6D81-8C797C4D5A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27894-99B0-6303-77B2-C1C210EE22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84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00A09-BF95-A121-71A4-33FFE91AC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1417" y="606175"/>
            <a:ext cx="10392383" cy="471063"/>
          </a:xfrm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002391"/>
                </a:solidFill>
                <a:latin typeface="Arial"/>
              </a:rPr>
              <a:t>Logistics &amp; Supply Chain Mobile App for Shipper Self-Service</a:t>
            </a:r>
            <a:endParaRPr lang="en-US" sz="2400" b="1" dirty="0">
              <a:solidFill>
                <a:srgbClr val="011893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24CF11E-4EBB-004C-8FD7-152B8D16D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24F28400-FDB5-158C-D317-153E1B1CD072}"/>
              </a:ext>
            </a:extLst>
          </p:cNvPr>
          <p:cNvSpPr txBox="1">
            <a:spLocks/>
          </p:cNvSpPr>
          <p:nvPr/>
        </p:nvSpPr>
        <p:spPr>
          <a:xfrm>
            <a:off x="961417" y="5032000"/>
            <a:ext cx="10506683" cy="138075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rgbClr val="C00000"/>
                </a:solidFill>
              </a:rPr>
              <a:t>KONERU LAKSHMAIAH EDUCATION FOUNDATION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b="1" dirty="0">
              <a:solidFill>
                <a:srgbClr val="0070C0"/>
              </a:solidFill>
            </a:endParaRP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968465D1-CCC3-285A-3E29-8B23DC764FF6}"/>
              </a:ext>
            </a:extLst>
          </p:cNvPr>
          <p:cNvSpPr txBox="1">
            <a:spLocks/>
          </p:cNvSpPr>
          <p:nvPr/>
        </p:nvSpPr>
        <p:spPr>
          <a:xfrm>
            <a:off x="952500" y="3143780"/>
            <a:ext cx="10515600" cy="180629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Under the Guidance </a:t>
            </a:r>
          </a:p>
          <a:p>
            <a:pPr marL="0" indent="0" algn="ctr">
              <a:buNone/>
            </a:pPr>
            <a:r>
              <a:rPr lang="en-US" sz="2400" dirty="0"/>
              <a:t>of </a:t>
            </a:r>
            <a:endParaRPr lang="en-US" sz="2400" dirty="0">
              <a:solidFill>
                <a:srgbClr val="00B05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0B050"/>
                </a:solidFill>
              </a:rPr>
              <a:t>Dr. Y Prasanthi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0B050"/>
                </a:solidFill>
              </a:rPr>
              <a:t>Assistant Professor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0B050"/>
                </a:solidFill>
              </a:rPr>
              <a:t>Department of Computer Science and Engineering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9864F2-F4A5-DC53-C4B3-F9C0A49E4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/>
          <a:p>
            <a:pPr algn="ctr"/>
            <a:r>
              <a:rPr sz="1200" b="1">
                <a:solidFill>
                  <a:srgbClr val="1E2D41"/>
                </a:solidFill>
                <a:latin typeface="Arial"/>
              </a:rPr>
              <a:t>1st REVIEW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3C41FE-7D1F-E7DF-F0EB-DE18D3955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6040" y="4860024"/>
            <a:ext cx="2618924" cy="1243012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5C1A452-4633-BB68-A150-FAF552C36C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0982844"/>
              </p:ext>
            </p:extLst>
          </p:nvPr>
        </p:nvGraphicFramePr>
        <p:xfrm>
          <a:off x="2032000" y="1680962"/>
          <a:ext cx="812800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64949112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4783695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sz="1500">
                          <a:latin typeface="Arial"/>
                        </a:rPr>
                        <a:t>Saisashank.B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Arial"/>
                        </a:rPr>
                        <a:t>2520030454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518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1500">
                          <a:latin typeface="Arial"/>
                        </a:rPr>
                        <a:t>J.Poornesh Kumar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Arial"/>
                        </a:rPr>
                        <a:t>2520030055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438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1500">
                          <a:latin typeface="Arial"/>
                        </a:rPr>
                        <a:t>K.Chaitanya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Arial"/>
                        </a:rPr>
                        <a:t>2520030210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4183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2554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F0159-92E9-5749-2215-8FA86E40B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4484" y="374681"/>
            <a:ext cx="9343030" cy="726696"/>
          </a:xfrm>
        </p:spPr>
        <p:txBody>
          <a:bodyPr wrap="square">
            <a:normAutofit/>
          </a:bodyPr>
          <a:lstStyle/>
          <a:p>
            <a:pPr algn="ctr"/>
            <a:r>
              <a:rPr sz="2000" b="1">
                <a:solidFill>
                  <a:srgbClr val="0066BE"/>
                </a:solidFill>
                <a:latin typeface="Arial"/>
              </a:rPr>
              <a:t>GROUP NUMBER: 18 | SECTION: 9</a:t>
            </a:r>
            <a:endParaRPr lang="en-IN" sz="3200" b="1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BEE83-A330-74AD-884C-C19F63D46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68CDC1-D8FB-8D4B-F57A-06B2C414C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</a:t>
            </a:fld>
            <a:endParaRPr lang="en-US"/>
          </a:p>
        </p:txBody>
      </p:sp>
      <p:graphicFrame>
        <p:nvGraphicFramePr>
          <p:cNvPr id="7" name="Table 10">
            <a:extLst>
              <a:ext uri="{FF2B5EF4-FFF2-40B4-BE49-F238E27FC236}">
                <a16:creationId xmlns:a16="http://schemas.microsoft.com/office/drawing/2014/main" id="{BD94FEB8-52D1-2D12-5891-6583D8FD44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0793399"/>
              </p:ext>
            </p:extLst>
          </p:nvPr>
        </p:nvGraphicFramePr>
        <p:xfrm>
          <a:off x="838199" y="1416193"/>
          <a:ext cx="10515600" cy="3567649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4656383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175382372"/>
                    </a:ext>
                  </a:extLst>
                </a:gridCol>
              </a:tblGrid>
              <a:tr h="41844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 of Candidate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7162894"/>
                  </a:ext>
                </a:extLst>
              </a:tr>
              <a:tr h="629841">
                <a:tc>
                  <a:txBody>
                    <a:bodyPr/>
                    <a:lstStyle/>
                    <a:p>
                      <a:r>
                        <a:rPr sz="1600">
                          <a:latin typeface="Arial"/>
                        </a:rPr>
                        <a:t>Saisashank.B (2520030454)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rial"/>
                        </a:rPr>
                        <a:t>Project Lead &amp; Documentation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1584153"/>
                  </a:ext>
                </a:extLst>
              </a:tr>
              <a:tr h="629841">
                <a:tc>
                  <a:txBody>
                    <a:bodyPr/>
                    <a:lstStyle/>
                    <a:p>
                      <a:r>
                        <a:rPr sz="1600">
                          <a:latin typeface="Arial"/>
                        </a:rPr>
                        <a:t>J.Poornesh Kumar (2520030055)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rial"/>
                        </a:rPr>
                        <a:t>Database &amp; Backend Integration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1687620"/>
                  </a:ext>
                </a:extLst>
              </a:tr>
              <a:tr h="629841">
                <a:tc>
                  <a:txBody>
                    <a:bodyPr/>
                    <a:lstStyle/>
                    <a:p>
                      <a:r>
                        <a:rPr sz="1600">
                          <a:latin typeface="Arial"/>
                        </a:rPr>
                        <a:t>K.Chaitanya (2520030210)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rial"/>
                        </a:rPr>
                        <a:t>Frontend &amp; Testing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9241275"/>
                  </a:ext>
                </a:extLst>
              </a:tr>
              <a:tr h="62984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chemeClr val="tx1">
                            <a:alpha val="31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121683"/>
                  </a:ext>
                </a:extLst>
              </a:tr>
              <a:tr h="6298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chemeClr val="tx1">
                            <a:alpha val="31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9593745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914400" y="4709160"/>
            <a:ext cx="10332720" cy="713232"/>
          </a:xfrm>
          <a:prstGeom prst="roundRect">
            <a:avLst/>
          </a:prstGeom>
          <a:solidFill>
            <a:srgbClr val="F1F7FC"/>
          </a:solidFill>
          <a:ln w="1524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l"/>
            <a:r>
              <a:rPr sz="1700" b="1">
                <a:solidFill>
                  <a:srgbClr val="1E2D41"/>
                </a:solidFill>
                <a:latin typeface="Arial"/>
              </a:rPr>
              <a:t>Project: Self-service mobile platform for shipment booking, tracking, cancellation and history</a:t>
            </a:r>
          </a:p>
        </p:txBody>
      </p:sp>
    </p:spTree>
    <p:extLst>
      <p:ext uri="{BB962C8B-B14F-4D97-AF65-F5344CB8AC3E}">
        <p14:creationId xmlns:p14="http://schemas.microsoft.com/office/powerpoint/2010/main" val="1183936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C21A4-4335-3E69-90C0-3A67A34B2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32EA0-1B53-65AA-CA98-61C6349CC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algn="ctr"/>
            <a:r>
              <a:rPr sz="3200" b="1" dirty="0">
                <a:solidFill>
                  <a:srgbClr val="0066BE"/>
                </a:solidFill>
                <a:latin typeface="Arial"/>
              </a:rPr>
              <a:t>ABSTRACT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208674-D9B3-10B6-5D9C-41DD53040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CDEA6-9764-F9AA-B69B-6D32503B0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A63587-658B-D9DC-0DC8-293DA4D38F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9966960" cy="344632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900">
                <a:solidFill>
                  <a:srgbClr val="1E2D41"/>
                </a:solidFill>
                <a:latin typeface="Arial"/>
              </a:defRPr>
            </a:pPr>
            <a:r>
              <a:rPr dirty="0"/>
              <a:t>• Shippers currently rely on manual staff coordination to book and track shipments, causing delays</a:t>
            </a:r>
            <a:r>
              <a:rPr lang="en-US" dirty="0"/>
              <a:t>.</a:t>
            </a:r>
            <a:endParaRPr dirty="0"/>
          </a:p>
          <a:p>
            <a:pPr>
              <a:lnSpc>
                <a:spcPct val="108000"/>
              </a:lnSpc>
              <a:spcAft>
                <a:spcPts val="500"/>
              </a:spcAft>
              <a:defRPr sz="1900">
                <a:solidFill>
                  <a:srgbClr val="1E2D41"/>
                </a:solidFill>
                <a:latin typeface="Arial"/>
              </a:defRPr>
            </a:pPr>
            <a:r>
              <a:rPr dirty="0"/>
              <a:t>• The proposed mobile application enables shippers to independently book, track, manage and cancel shipments end-to-end.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900">
                <a:solidFill>
                  <a:srgbClr val="1E2D41"/>
                </a:solidFill>
                <a:latin typeface="Arial"/>
              </a:defRPr>
            </a:pPr>
            <a:r>
              <a:rPr dirty="0"/>
              <a:t>• The system uses a normalized MySQL relational database with foreign keys, constraints, triggers, stored procedures and transactions.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900">
                <a:solidFill>
                  <a:srgbClr val="1E2D41"/>
                </a:solidFill>
                <a:latin typeface="Arial"/>
              </a:defRPr>
            </a:pPr>
            <a:r>
              <a:rPr dirty="0"/>
              <a:t>• A REST API connects the mobile application to MySQL, separating the user interface from database operations.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900">
                <a:solidFill>
                  <a:srgbClr val="1E2D41"/>
                </a:solidFill>
                <a:latin typeface="Arial"/>
              </a:defRPr>
            </a:pPr>
            <a:r>
              <a:rPr dirty="0"/>
              <a:t>• The project demonstrates practical DBSE/DBD concepts while improving transparency and reducing staff dependency.</a:t>
            </a:r>
          </a:p>
        </p:txBody>
      </p:sp>
    </p:spTree>
    <p:extLst>
      <p:ext uri="{BB962C8B-B14F-4D97-AF65-F5344CB8AC3E}">
        <p14:creationId xmlns:p14="http://schemas.microsoft.com/office/powerpoint/2010/main" val="4206421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C98CD-164D-D85C-3C57-86DE945BC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67F0A-F575-131F-4FAD-BB774017A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algn="ctr"/>
            <a:r>
              <a:rPr sz="3200" b="1">
                <a:solidFill>
                  <a:srgbClr val="0066BE"/>
                </a:solidFill>
                <a:latin typeface="Arial"/>
              </a:rPr>
              <a:t>INTRODUCTION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EFBF-E399-A1D2-ED5E-57C497A79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65F5E2-7F9E-F67E-1C1D-E2C463D8F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4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0241EE-20FA-FE88-F0CE-F84CFE3ED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868680" y="1417320"/>
            <a:ext cx="2743200" cy="384048"/>
          </a:xfrm>
          <a:prstGeom prst="roundRect">
            <a:avLst/>
          </a:prstGeom>
          <a:solidFill>
            <a:srgbClr val="F1F7FC"/>
          </a:solidFill>
          <a:ln w="1524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/>
            <a:r>
              <a:rPr sz="1300" b="1">
                <a:solidFill>
                  <a:srgbClr val="0066BE"/>
                </a:solidFill>
                <a:latin typeface="Arial"/>
              </a:rPr>
              <a:t>PROJECT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4800600" cy="33832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800">
                <a:solidFill>
                  <a:srgbClr val="1E2D41"/>
                </a:solidFill>
                <a:latin typeface="Arial"/>
              </a:defRPr>
            </a:pPr>
            <a:r>
              <a:t>• A digital logistics platform focused on shipper self-service.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800">
                <a:solidFill>
                  <a:srgbClr val="1E2D41"/>
                </a:solidFill>
                <a:latin typeface="Arial"/>
              </a:defRPr>
            </a:pPr>
            <a:r>
              <a:t>• Allows shipment creation with pickup, drop and package details.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800">
                <a:solidFill>
                  <a:srgbClr val="1E2D41"/>
                </a:solidFill>
                <a:latin typeface="Arial"/>
              </a:defRPr>
            </a:pPr>
            <a:r>
              <a:t>• Provides a status timeline from booking to delivery.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800">
                <a:solidFill>
                  <a:srgbClr val="1E2D41"/>
                </a:solidFill>
                <a:latin typeface="Arial"/>
              </a:defRPr>
            </a:pPr>
            <a:r>
              <a:t>• Lets users view active and previous shipments and cancel eligible bookings.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1417320"/>
            <a:ext cx="2743200" cy="384048"/>
          </a:xfrm>
          <a:prstGeom prst="roundRect">
            <a:avLst/>
          </a:prstGeom>
          <a:solidFill>
            <a:srgbClr val="F1F7FC"/>
          </a:solidFill>
          <a:ln w="1524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/>
            <a:r>
              <a:rPr sz="1300" b="1">
                <a:solidFill>
                  <a:srgbClr val="0066BE"/>
                </a:solidFill>
                <a:latin typeface="Arial"/>
              </a:rPr>
              <a:t>WHY IT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1874519"/>
            <a:ext cx="4800600" cy="33832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800">
                <a:solidFill>
                  <a:srgbClr val="1E2D41"/>
                </a:solidFill>
                <a:latin typeface="Arial"/>
              </a:defRPr>
            </a:pPr>
            <a:r>
              <a:t>• Reduces manual coordination and avoidable delays.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800">
                <a:solidFill>
                  <a:srgbClr val="1E2D41"/>
                </a:solidFill>
                <a:latin typeface="Arial"/>
              </a:defRPr>
            </a:pPr>
            <a:r>
              <a:t>• Improves shipment visibility for shippers.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800">
                <a:solidFill>
                  <a:srgbClr val="1E2D41"/>
                </a:solidFill>
                <a:latin typeface="Arial"/>
              </a:defRPr>
            </a:pPr>
            <a:r>
              <a:t>• Applies database constraints to protect data integrity.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800">
                <a:solidFill>
                  <a:srgbClr val="1E2D41"/>
                </a:solidFill>
                <a:latin typeface="Arial"/>
              </a:defRPr>
            </a:pPr>
            <a:r>
              <a:t>• Creates a foundation for scalable logistics services.</a:t>
            </a:r>
          </a:p>
        </p:txBody>
      </p:sp>
    </p:spTree>
    <p:extLst>
      <p:ext uri="{BB962C8B-B14F-4D97-AF65-F5344CB8AC3E}">
        <p14:creationId xmlns:p14="http://schemas.microsoft.com/office/powerpoint/2010/main" val="2105092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8186F-83EF-F797-3CF5-E0EB652B6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ADAA0-09CB-B341-1C09-04229CE69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algn="ctr"/>
            <a:r>
              <a:rPr sz="3200" b="1">
                <a:solidFill>
                  <a:srgbClr val="0066BE"/>
                </a:solidFill>
                <a:latin typeface="Arial"/>
              </a:rPr>
              <a:t>EXISTING SYSTEM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8FD481-001E-20A8-DE67-D9A849594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6E39B-0946-7E2E-7624-441AA6BEE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5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6021FD-8573-454E-AAE6-0DB770428D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868680" y="1417320"/>
            <a:ext cx="4800600" cy="3566160"/>
          </a:xfrm>
          <a:prstGeom prst="roundRect">
            <a:avLst/>
          </a:prstGeom>
          <a:solidFill>
            <a:srgbClr val="F1F7FC"/>
          </a:solidFill>
          <a:ln w="1524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46304" rIns="146304" bIns="146304" rtlCol="0" anchor="ctr"/>
          <a:lstStyle/>
          <a:p>
            <a:pPr algn="l"/>
            <a:r>
              <a:rPr sz="1800" b="0">
                <a:solidFill>
                  <a:srgbClr val="1E2D41"/>
                </a:solidFill>
                <a:latin typeface="Arial"/>
              </a:rPr>
              <a:t>CURRENT PROCESS
• Shipper contacts staff to create a booking
• Staff coordinates shipment details
• Tracking information is shared manually
• Changes/cancellations depend on staff availability
• Limited real-time visibility for the shipper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1417320"/>
            <a:ext cx="4800600" cy="3566160"/>
          </a:xfrm>
          <a:prstGeom prst="roundRect">
            <a:avLst/>
          </a:prstGeom>
          <a:solidFill>
            <a:srgbClr val="FCF4F2"/>
          </a:solidFill>
          <a:ln w="15240">
            <a:solidFill>
              <a:srgbClr val="EB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46304" rIns="146304" bIns="146304" rtlCol="0" anchor="ctr"/>
          <a:lstStyle/>
          <a:p>
            <a:pPr algn="l"/>
            <a:r>
              <a:rPr sz="1800" b="0">
                <a:solidFill>
                  <a:srgbClr val="1E2D41"/>
                </a:solidFill>
                <a:latin typeface="Arial"/>
              </a:rPr>
              <a:t>LIMITATIONS
• Time-consuming communication
• Delays in booking and updates
• Higher staff workload
• Limited self-service
• Greater risk of inconsistent records
• Poor end-to-end visibility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5257800"/>
            <a:ext cx="905256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/>
            <a:r>
              <a:rPr sz="1600" b="1">
                <a:solidFill>
                  <a:srgbClr val="0066BE"/>
                </a:solidFill>
                <a:latin typeface="Arial"/>
              </a:rPr>
              <a:t>Need: a centralized self-service application backed by a reliable relational database.</a:t>
            </a:r>
          </a:p>
        </p:txBody>
      </p:sp>
    </p:spTree>
    <p:extLst>
      <p:ext uri="{BB962C8B-B14F-4D97-AF65-F5344CB8AC3E}">
        <p14:creationId xmlns:p14="http://schemas.microsoft.com/office/powerpoint/2010/main" val="3485086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7D086-C570-6965-FE9B-0BC9CC8DC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39E69-F203-A171-A5A3-B886BB15A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algn="ctr"/>
            <a:r>
              <a:rPr sz="3200" b="1">
                <a:solidFill>
                  <a:srgbClr val="0066BE"/>
                </a:solidFill>
                <a:latin typeface="Arial"/>
              </a:rPr>
              <a:t>PROBLEM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D7E664-BF08-3F4A-316F-C5F90E27A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522F1-A86A-A779-FD8E-AD3FAD013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6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1C0964-43C5-DE58-F74B-F0B3B1F5C9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868680" y="1417320"/>
            <a:ext cx="10287000" cy="960120"/>
          </a:xfrm>
          <a:prstGeom prst="roundRect">
            <a:avLst/>
          </a:prstGeom>
          <a:solidFill>
            <a:srgbClr val="FFF7F6"/>
          </a:solidFill>
          <a:ln w="15240">
            <a:solidFill>
              <a:srgbClr val="EB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46304" rIns="146304" bIns="146304" rtlCol="0" anchor="ctr"/>
          <a:lstStyle/>
          <a:p>
            <a:pPr algn="l"/>
            <a:r>
              <a:rPr sz="2100" b="1">
                <a:solidFill>
                  <a:srgbClr val="CD2D23"/>
                </a:solidFill>
                <a:latin typeface="Arial"/>
              </a:rPr>
              <a:t>Shippers lack a direct, reliable way to manage the complete shipment lifecycle without staff intervention.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4892040" cy="2560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800">
                <a:solidFill>
                  <a:srgbClr val="1E2D41"/>
                </a:solidFill>
                <a:latin typeface="Arial"/>
              </a:defRPr>
            </a:pPr>
            <a:r>
              <a:t>• Booking depends on manual staff interaction.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800">
                <a:solidFill>
                  <a:srgbClr val="1E2D41"/>
                </a:solidFill>
                <a:latin typeface="Arial"/>
              </a:defRPr>
            </a:pPr>
            <a:r>
              <a:t>• Shipment status may not be immediately visible.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800">
                <a:solidFill>
                  <a:srgbClr val="1E2D41"/>
                </a:solidFill>
                <a:latin typeface="Arial"/>
              </a:defRPr>
            </a:pPr>
            <a:r>
              <a:t>• Cancellation must follow business rules and timing constraints.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800">
                <a:solidFill>
                  <a:srgbClr val="1E2D41"/>
                </a:solidFill>
                <a:latin typeface="Arial"/>
              </a:defRPr>
            </a:pPr>
            <a:r>
              <a:t>• Disconnected records can reduce data consistency.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60" y="2697480"/>
            <a:ext cx="4800600" cy="2560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800">
                <a:solidFill>
                  <a:srgbClr val="1E2D41"/>
                </a:solidFill>
                <a:latin typeface="Arial"/>
              </a:defRPr>
            </a:pPr>
            <a:r>
              <a:t>• Users need secure registration and login.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800">
                <a:solidFill>
                  <a:srgbClr val="1E2D41"/>
                </a:solidFill>
                <a:latin typeface="Arial"/>
              </a:defRPr>
            </a:pPr>
            <a:r>
              <a:t>• Users need shipment history and filtering.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800">
                <a:solidFill>
                  <a:srgbClr val="1E2D41"/>
                </a:solidFill>
                <a:latin typeface="Arial"/>
              </a:defRPr>
            </a:pPr>
            <a:r>
              <a:t>• Database relationships must enforce valid references.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800">
                <a:solidFill>
                  <a:srgbClr val="1E2D41"/>
                </a:solidFill>
                <a:latin typeface="Arial"/>
              </a:defRPr>
            </a:pPr>
            <a:r>
              <a:t>• Operations should be controlled through transactions and DB rules.</a:t>
            </a:r>
          </a:p>
        </p:txBody>
      </p:sp>
    </p:spTree>
    <p:extLst>
      <p:ext uri="{BB962C8B-B14F-4D97-AF65-F5344CB8AC3E}">
        <p14:creationId xmlns:p14="http://schemas.microsoft.com/office/powerpoint/2010/main" val="2029224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1D2BB-24DC-B783-7CA6-93F4D0FDD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F7F70-D950-780B-9427-7B1B3DAFF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algn="ctr"/>
            <a:r>
              <a:rPr sz="3200" b="1">
                <a:solidFill>
                  <a:srgbClr val="0066BE"/>
                </a:solidFill>
                <a:latin typeface="Arial"/>
              </a:rPr>
              <a:t>SOLUTION (Contribution)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3B14AD-C0C8-6663-E0C7-1AAF7B63E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DA39EF-2DDE-9002-F716-F77A6113D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7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05A205-0B24-5585-AD3A-14F0657A9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2926080" cy="1005840"/>
          </a:xfrm>
          <a:prstGeom prst="roundRect">
            <a:avLst/>
          </a:prstGeom>
          <a:solidFill>
            <a:srgbClr val="0066BE"/>
          </a:solidFill>
          <a:ln w="15240">
            <a:solidFill>
              <a:srgbClr val="0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Flutter Mobile App
Shipper Self-Service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08760"/>
            <a:ext cx="2926080" cy="1005840"/>
          </a:xfrm>
          <a:prstGeom prst="roundRect">
            <a:avLst/>
          </a:prstGeom>
          <a:solidFill>
            <a:srgbClr val="0066BE"/>
          </a:solidFill>
          <a:ln w="15240">
            <a:solidFill>
              <a:srgbClr val="0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Node.js REST API
Business Logic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508760"/>
            <a:ext cx="2926080" cy="1005840"/>
          </a:xfrm>
          <a:prstGeom prst="roundRect">
            <a:avLst/>
          </a:prstGeom>
          <a:solidFill>
            <a:srgbClr val="0066BE"/>
          </a:solidFill>
          <a:ln w="15240">
            <a:solidFill>
              <a:srgbClr val="0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MySQL Database
Constraints + DB Logic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657600" y="2011680"/>
            <a:ext cx="685800" cy="0"/>
          </a:xfrm>
          <a:prstGeom prst="line">
            <a:avLst/>
          </a:prstGeom>
          <a:ln w="38100">
            <a:solidFill>
              <a:srgbClr val="00A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315200" y="2011680"/>
            <a:ext cx="685800" cy="0"/>
          </a:xfrm>
          <a:prstGeom prst="line">
            <a:avLst/>
          </a:prstGeom>
          <a:ln w="38100">
            <a:solidFill>
              <a:srgbClr val="00A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14400" y="3063240"/>
            <a:ext cx="10149840" cy="20574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700">
                <a:solidFill>
                  <a:srgbClr val="1E2D41"/>
                </a:solidFill>
                <a:latin typeface="Arial"/>
              </a:defRPr>
            </a:pPr>
            <a:r>
              <a:t>• JWT-secured authentication protects user access.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700">
                <a:solidFill>
                  <a:srgbClr val="1E2D41"/>
                </a:solidFill>
                <a:latin typeface="Arial"/>
              </a:defRPr>
            </a:pPr>
            <a:r>
              <a:t>• Booking calculates/records shipment details; tracking exposes the shipment lifecycle.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700">
                <a:solidFill>
                  <a:srgbClr val="1E2D41"/>
                </a:solidFill>
                <a:latin typeface="Arial"/>
              </a:defRPr>
            </a:pPr>
            <a:r>
              <a:t>• Cancellation is restricted before pickup using business rules.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700">
                <a:solidFill>
                  <a:srgbClr val="1E2D41"/>
                </a:solidFill>
                <a:latin typeface="Arial"/>
              </a:defRPr>
            </a:pPr>
            <a:r>
              <a:t>• MySQL foreign keys, triggers, stored procedures and transactions support integrity and controlled operations.</a:t>
            </a:r>
          </a:p>
        </p:txBody>
      </p:sp>
    </p:spTree>
    <p:extLst>
      <p:ext uri="{BB962C8B-B14F-4D97-AF65-F5344CB8AC3E}">
        <p14:creationId xmlns:p14="http://schemas.microsoft.com/office/powerpoint/2010/main" val="39498318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553A8-3533-6CAA-B371-DE8FA0254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B2015-9851-BB00-C9BE-D0201418C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algn="ctr"/>
            <a:r>
              <a:rPr sz="3200" b="1">
                <a:solidFill>
                  <a:srgbClr val="0066BE"/>
                </a:solidFill>
                <a:latin typeface="Arial"/>
              </a:rPr>
              <a:t>OBJECTIVES</a:t>
            </a:r>
            <a:endParaRPr lang="en-IN" sz="36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6106D5-4F08-32F7-69CA-DA0983824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2EE72-0990-73F7-3A95-5511C5AA0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8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40F2FD-B824-35C5-9EAA-5AF510938C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960120" y="1417320"/>
            <a:ext cx="475488" cy="411480"/>
          </a:xfrm>
          <a:prstGeom prst="roundRect">
            <a:avLst/>
          </a:prstGeom>
          <a:solidFill>
            <a:srgbClr val="0066BE"/>
          </a:solidFill>
          <a:ln w="15240">
            <a:solidFill>
              <a:srgbClr val="0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72768" y="1417320"/>
            <a:ext cx="9464040" cy="4389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/>
            <a:r>
              <a:rPr sz="1600" b="0">
                <a:solidFill>
                  <a:srgbClr val="1E2D41"/>
                </a:solidFill>
                <a:latin typeface="Arial"/>
              </a:rPr>
              <a:t>Provide secure shipper registration and login.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2011680"/>
            <a:ext cx="475488" cy="411480"/>
          </a:xfrm>
          <a:prstGeom prst="roundRect">
            <a:avLst/>
          </a:prstGeom>
          <a:solidFill>
            <a:srgbClr val="0066BE"/>
          </a:solidFill>
          <a:ln w="15240">
            <a:solidFill>
              <a:srgbClr val="0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72768" y="2011680"/>
            <a:ext cx="9464040" cy="4389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/>
            <a:r>
              <a:rPr sz="1600" b="0">
                <a:solidFill>
                  <a:srgbClr val="1E2D41"/>
                </a:solidFill>
                <a:latin typeface="Arial"/>
              </a:rPr>
              <a:t>Enable independent shipment booking with pickup/drop and package details.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2606040"/>
            <a:ext cx="475488" cy="411480"/>
          </a:xfrm>
          <a:prstGeom prst="roundRect">
            <a:avLst/>
          </a:prstGeom>
          <a:solidFill>
            <a:srgbClr val="0066BE"/>
          </a:solidFill>
          <a:ln w="15240">
            <a:solidFill>
              <a:srgbClr val="0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572768" y="2606040"/>
            <a:ext cx="9464040" cy="4389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/>
            <a:r>
              <a:rPr sz="1600" b="0">
                <a:solidFill>
                  <a:srgbClr val="1E2D41"/>
                </a:solidFill>
                <a:latin typeface="Arial"/>
              </a:rPr>
              <a:t>Provide a clear shipment tracking timeline.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3200400"/>
            <a:ext cx="475488" cy="411480"/>
          </a:xfrm>
          <a:prstGeom prst="roundRect">
            <a:avLst/>
          </a:prstGeom>
          <a:solidFill>
            <a:srgbClr val="0066BE"/>
          </a:solidFill>
          <a:ln w="15240">
            <a:solidFill>
              <a:srgbClr val="0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72768" y="3200400"/>
            <a:ext cx="9464040" cy="4389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/>
            <a:r>
              <a:rPr sz="1600" b="0">
                <a:solidFill>
                  <a:srgbClr val="1E2D41"/>
                </a:solidFill>
                <a:latin typeface="Arial"/>
              </a:rPr>
              <a:t>Allow eligible shipment cancellation based on business rules.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" y="3794760"/>
            <a:ext cx="475488" cy="411480"/>
          </a:xfrm>
          <a:prstGeom prst="roundRect">
            <a:avLst/>
          </a:prstGeom>
          <a:solidFill>
            <a:srgbClr val="0066BE"/>
          </a:solidFill>
          <a:ln w="15240">
            <a:solidFill>
              <a:srgbClr val="0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72768" y="3794760"/>
            <a:ext cx="9464040" cy="4389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/>
            <a:r>
              <a:rPr sz="1600" b="0">
                <a:solidFill>
                  <a:srgbClr val="1E2D41"/>
                </a:solidFill>
                <a:latin typeface="Arial"/>
              </a:rPr>
              <a:t>Maintain active and historical shipment records with filtering.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" y="4389120"/>
            <a:ext cx="475488" cy="411480"/>
          </a:xfrm>
          <a:prstGeom prst="roundRect">
            <a:avLst/>
          </a:prstGeom>
          <a:solidFill>
            <a:srgbClr val="0066BE"/>
          </a:solidFill>
          <a:ln w="15240">
            <a:solidFill>
              <a:srgbClr val="0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572768" y="4389120"/>
            <a:ext cx="9464040" cy="4389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/>
            <a:r>
              <a:rPr sz="1600" b="0">
                <a:solidFill>
                  <a:srgbClr val="1E2D41"/>
                </a:solidFill>
                <a:latin typeface="Arial"/>
              </a:rPr>
              <a:t>Implement normalized MySQL database design with integrity constraints.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" y="4983480"/>
            <a:ext cx="475488" cy="411480"/>
          </a:xfrm>
          <a:prstGeom prst="roundRect">
            <a:avLst/>
          </a:prstGeom>
          <a:solidFill>
            <a:srgbClr val="0066BE"/>
          </a:solidFill>
          <a:ln w="15240">
            <a:solidFill>
              <a:srgbClr val="0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572768" y="4983480"/>
            <a:ext cx="9464040" cy="4389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/>
            <a:r>
              <a:rPr sz="1600" b="0">
                <a:solidFill>
                  <a:srgbClr val="1E2D41"/>
                </a:solidFill>
                <a:latin typeface="Arial"/>
              </a:rPr>
              <a:t>Demonstrate triggers, stored procedures and transactions in a practical application.</a:t>
            </a:r>
          </a:p>
        </p:txBody>
      </p:sp>
    </p:spTree>
    <p:extLst>
      <p:ext uri="{BB962C8B-B14F-4D97-AF65-F5344CB8AC3E}">
        <p14:creationId xmlns:p14="http://schemas.microsoft.com/office/powerpoint/2010/main" val="24020797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E377E-B28A-2AB9-1E52-312C1B6D0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0CE29-8CD2-1FFC-0567-2D18CBDB1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algn="ctr"/>
            <a:r>
              <a:rPr sz="3200" b="1">
                <a:solidFill>
                  <a:srgbClr val="0066BE"/>
                </a:solidFill>
                <a:latin typeface="Arial"/>
              </a:rPr>
              <a:t>MODULES</a:t>
            </a:r>
            <a:endParaRPr lang="en-IN" sz="36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FE5840-59B4-6944-E4BB-E2BB1AD67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B9982D-9C14-E702-5AE1-C9030BFD2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9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20CCCA-2419-39FC-4F64-F44FEFF225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2743200" cy="1874519"/>
          </a:xfrm>
          <a:prstGeom prst="roundRect">
            <a:avLst/>
          </a:prstGeom>
          <a:solidFill>
            <a:srgbClr val="F1F7FC"/>
          </a:solidFill>
          <a:ln w="1524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l"/>
            <a:r>
              <a:rPr sz="1700" b="1">
                <a:solidFill>
                  <a:srgbClr val="0066BE"/>
                </a:solidFill>
                <a:latin typeface="Arial"/>
              </a:rPr>
              <a:t>1. Authentication</a:t>
            </a:r>
          </a:p>
          <a:p>
            <a:pPr>
              <a:spcBef>
                <a:spcPts val="800"/>
              </a:spcBef>
              <a:defRPr sz="1400">
                <a:solidFill>
                  <a:srgbClr val="1E2D41"/>
                </a:solidFill>
                <a:latin typeface="Arial"/>
              </a:defRPr>
            </a:pPr>
            <a:r>
              <a:t>Registration and JWT-secured login.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86200" y="1417320"/>
            <a:ext cx="2743200" cy="1874519"/>
          </a:xfrm>
          <a:prstGeom prst="roundRect">
            <a:avLst/>
          </a:prstGeom>
          <a:solidFill>
            <a:srgbClr val="F1F7FC"/>
          </a:solidFill>
          <a:ln w="1524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l"/>
            <a:r>
              <a:rPr sz="1700" b="1">
                <a:solidFill>
                  <a:srgbClr val="0066BE"/>
                </a:solidFill>
                <a:latin typeface="Arial"/>
              </a:rPr>
              <a:t>2. Shipment Booking</a:t>
            </a:r>
          </a:p>
          <a:p>
            <a:pPr>
              <a:spcBef>
                <a:spcPts val="800"/>
              </a:spcBef>
              <a:defRPr sz="1400">
                <a:solidFill>
                  <a:srgbClr val="1E2D41"/>
                </a:solidFill>
                <a:latin typeface="Arial"/>
              </a:defRPr>
            </a:pPr>
            <a:r>
              <a:t>Pickup/drop, package details and cost estimate.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95160" y="1417320"/>
            <a:ext cx="2743200" cy="1874519"/>
          </a:xfrm>
          <a:prstGeom prst="roundRect">
            <a:avLst/>
          </a:prstGeom>
          <a:solidFill>
            <a:srgbClr val="F1F7FC"/>
          </a:solidFill>
          <a:ln w="1524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l"/>
            <a:r>
              <a:rPr sz="1700" b="1">
                <a:solidFill>
                  <a:srgbClr val="0066BE"/>
                </a:solidFill>
                <a:latin typeface="Arial"/>
              </a:rPr>
              <a:t>3. Tracking</a:t>
            </a:r>
          </a:p>
          <a:p>
            <a:pPr>
              <a:spcBef>
                <a:spcPts val="800"/>
              </a:spcBef>
              <a:defRPr sz="1400">
                <a:solidFill>
                  <a:srgbClr val="1E2D41"/>
                </a:solidFill>
                <a:latin typeface="Arial"/>
              </a:defRPr>
            </a:pPr>
            <a:r>
              <a:t>Status timeline: Booked → Picked Up → In Transit → Delivered.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31720" y="3703320"/>
            <a:ext cx="2743200" cy="1874519"/>
          </a:xfrm>
          <a:prstGeom prst="roundRect">
            <a:avLst/>
          </a:prstGeom>
          <a:solidFill>
            <a:srgbClr val="F1F7FC"/>
          </a:solidFill>
          <a:ln w="1524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l"/>
            <a:r>
              <a:rPr sz="1700" b="1">
                <a:solidFill>
                  <a:srgbClr val="0066BE"/>
                </a:solidFill>
                <a:latin typeface="Arial"/>
              </a:rPr>
              <a:t>4. Cancellation</a:t>
            </a:r>
          </a:p>
          <a:p>
            <a:pPr>
              <a:spcBef>
                <a:spcPts val="800"/>
              </a:spcBef>
              <a:defRPr sz="1400">
                <a:solidFill>
                  <a:srgbClr val="1E2D41"/>
                </a:solidFill>
                <a:latin typeface="Arial"/>
              </a:defRPr>
            </a:pPr>
            <a:r>
              <a:t>Cancel eligible shipments before pickup.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3703320"/>
            <a:ext cx="2743200" cy="1874519"/>
          </a:xfrm>
          <a:prstGeom prst="roundRect">
            <a:avLst/>
          </a:prstGeom>
          <a:solidFill>
            <a:srgbClr val="F1F7FC"/>
          </a:solidFill>
          <a:ln w="1524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l"/>
            <a:r>
              <a:rPr sz="1700" b="1">
                <a:solidFill>
                  <a:srgbClr val="0066BE"/>
                </a:solidFill>
                <a:latin typeface="Arial"/>
              </a:rPr>
              <a:t>5. Shipment History</a:t>
            </a:r>
          </a:p>
          <a:p>
            <a:pPr>
              <a:spcBef>
                <a:spcPts val="800"/>
              </a:spcBef>
              <a:defRPr sz="1400">
                <a:solidFill>
                  <a:srgbClr val="1E2D41"/>
                </a:solidFill>
                <a:latin typeface="Arial"/>
              </a:defRPr>
            </a:pPr>
            <a:r>
              <a:t>View and filter active/past shipments by status and date.</a:t>
            </a:r>
          </a:p>
        </p:txBody>
      </p:sp>
    </p:spTree>
    <p:extLst>
      <p:ext uri="{BB962C8B-B14F-4D97-AF65-F5344CB8AC3E}">
        <p14:creationId xmlns:p14="http://schemas.microsoft.com/office/powerpoint/2010/main" val="10630771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0D793-788A-0BBE-1A25-0D6B7B4B4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7695C-2E9D-0BEB-6476-FC1A6852D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algn="ctr"/>
            <a:r>
              <a:rPr sz="3200" b="1">
                <a:solidFill>
                  <a:srgbClr val="0066BE"/>
                </a:solidFill>
                <a:latin typeface="Arial"/>
              </a:rPr>
              <a:t>SOFTWARE REQUIREMENTS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729F55-DE57-8408-42F6-4E0FBAB30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623B38-760E-3758-6704-655E2B69F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10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B3C331-E06F-D027-E4C0-6920D3707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914400" y="1417320"/>
            <a:ext cx="2423160" cy="420624"/>
          </a:xfrm>
          <a:prstGeom prst="roundRect">
            <a:avLst/>
          </a:prstGeom>
          <a:solidFill>
            <a:srgbClr val="0066BE"/>
          </a:solidFill>
          <a:ln w="15240">
            <a:solidFill>
              <a:srgbClr val="0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Frontend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417320"/>
            <a:ext cx="7315200" cy="420624"/>
          </a:xfrm>
          <a:prstGeom prst="roundRect">
            <a:avLst/>
          </a:prstGeom>
          <a:solidFill>
            <a:srgbClr val="F1F7FC"/>
          </a:solidFill>
          <a:ln w="1524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/>
            <a:r>
              <a:rPr sz="1500" b="0">
                <a:solidFill>
                  <a:srgbClr val="1E2D41"/>
                </a:solidFill>
                <a:latin typeface="Arial"/>
              </a:rPr>
              <a:t>Flutter mobile application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993392"/>
            <a:ext cx="2423160" cy="420624"/>
          </a:xfrm>
          <a:prstGeom prst="roundRect">
            <a:avLst/>
          </a:prstGeom>
          <a:solidFill>
            <a:srgbClr val="0066BE"/>
          </a:solidFill>
          <a:ln w="15240">
            <a:solidFill>
              <a:srgbClr val="0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Backend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993392"/>
            <a:ext cx="7315200" cy="420624"/>
          </a:xfrm>
          <a:prstGeom prst="roundRect">
            <a:avLst/>
          </a:prstGeom>
          <a:solidFill>
            <a:srgbClr val="F1F7FC"/>
          </a:solidFill>
          <a:ln w="1524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/>
            <a:r>
              <a:rPr sz="1500" b="0">
                <a:solidFill>
                  <a:srgbClr val="1E2D41"/>
                </a:solidFill>
                <a:latin typeface="Arial"/>
              </a:rPr>
              <a:t>Node.js REST API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569464"/>
            <a:ext cx="2423160" cy="420624"/>
          </a:xfrm>
          <a:prstGeom prst="roundRect">
            <a:avLst/>
          </a:prstGeom>
          <a:solidFill>
            <a:srgbClr val="0066BE"/>
          </a:solidFill>
          <a:ln w="15240">
            <a:solidFill>
              <a:srgbClr val="0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Database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2569464"/>
            <a:ext cx="7315200" cy="420624"/>
          </a:xfrm>
          <a:prstGeom prst="roundRect">
            <a:avLst/>
          </a:prstGeom>
          <a:solidFill>
            <a:srgbClr val="F1F7FC"/>
          </a:solidFill>
          <a:ln w="1524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/>
            <a:r>
              <a:rPr sz="1500" b="0">
                <a:solidFill>
                  <a:srgbClr val="1E2D41"/>
                </a:solidFill>
                <a:latin typeface="Arial"/>
              </a:rPr>
              <a:t>MySQL relational database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145536"/>
            <a:ext cx="2423160" cy="420624"/>
          </a:xfrm>
          <a:prstGeom prst="roundRect">
            <a:avLst/>
          </a:prstGeom>
          <a:solidFill>
            <a:srgbClr val="0066BE"/>
          </a:solidFill>
          <a:ln w="15240">
            <a:solidFill>
              <a:srgbClr val="0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Authentication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3145536"/>
            <a:ext cx="7315200" cy="420624"/>
          </a:xfrm>
          <a:prstGeom prst="roundRect">
            <a:avLst/>
          </a:prstGeom>
          <a:solidFill>
            <a:srgbClr val="F1F7FC"/>
          </a:solidFill>
          <a:ln w="1524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/>
            <a:r>
              <a:rPr sz="1500" b="0">
                <a:solidFill>
                  <a:srgbClr val="1E2D41"/>
                </a:solidFill>
                <a:latin typeface="Arial"/>
              </a:rPr>
              <a:t>JWT-based authentication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721608"/>
            <a:ext cx="2423160" cy="420624"/>
          </a:xfrm>
          <a:prstGeom prst="roundRect">
            <a:avLst/>
          </a:prstGeom>
          <a:solidFill>
            <a:srgbClr val="0066BE"/>
          </a:solidFill>
          <a:ln w="15240">
            <a:solidFill>
              <a:srgbClr val="0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Development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0" y="3721608"/>
            <a:ext cx="7315200" cy="420624"/>
          </a:xfrm>
          <a:prstGeom prst="roundRect">
            <a:avLst/>
          </a:prstGeom>
          <a:solidFill>
            <a:srgbClr val="F1F7FC"/>
          </a:solidFill>
          <a:ln w="1524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/>
            <a:r>
              <a:rPr sz="1500" b="0">
                <a:solidFill>
                  <a:srgbClr val="1E2D41"/>
                </a:solidFill>
                <a:latin typeface="Arial"/>
              </a:rPr>
              <a:t>VS Code / suitable IDE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297680"/>
            <a:ext cx="2423160" cy="420624"/>
          </a:xfrm>
          <a:prstGeom prst="roundRect">
            <a:avLst/>
          </a:prstGeom>
          <a:solidFill>
            <a:srgbClr val="0066BE"/>
          </a:solidFill>
          <a:ln w="15240">
            <a:solidFill>
              <a:srgbClr val="0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Version Control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74720" y="4297680"/>
            <a:ext cx="7315200" cy="420624"/>
          </a:xfrm>
          <a:prstGeom prst="roundRect">
            <a:avLst/>
          </a:prstGeom>
          <a:solidFill>
            <a:srgbClr val="F1F7FC"/>
          </a:solidFill>
          <a:ln w="1524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/>
            <a:r>
              <a:rPr sz="1500" b="0">
                <a:solidFill>
                  <a:srgbClr val="1E2D41"/>
                </a:solidFill>
                <a:latin typeface="Arial"/>
              </a:rPr>
              <a:t>GitHub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873752"/>
            <a:ext cx="2423160" cy="420624"/>
          </a:xfrm>
          <a:prstGeom prst="roundRect">
            <a:avLst/>
          </a:prstGeom>
          <a:solidFill>
            <a:srgbClr val="0066BE"/>
          </a:solidFill>
          <a:ln w="15240">
            <a:solidFill>
              <a:srgbClr val="0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Database Concepts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74720" y="4873752"/>
            <a:ext cx="7315200" cy="420624"/>
          </a:xfrm>
          <a:prstGeom prst="roundRect">
            <a:avLst/>
          </a:prstGeom>
          <a:solidFill>
            <a:srgbClr val="F1F7FC"/>
          </a:solidFill>
          <a:ln w="1524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/>
            <a:r>
              <a:rPr sz="1500" b="0">
                <a:solidFill>
                  <a:srgbClr val="1E2D41"/>
                </a:solidFill>
                <a:latin typeface="Arial"/>
              </a:rPr>
              <a:t>Normalization, foreign keys, constraints, triggers, stored procedures, transactions</a:t>
            </a:r>
          </a:p>
        </p:txBody>
      </p:sp>
    </p:spTree>
    <p:extLst>
      <p:ext uri="{BB962C8B-B14F-4D97-AF65-F5344CB8AC3E}">
        <p14:creationId xmlns:p14="http://schemas.microsoft.com/office/powerpoint/2010/main" val="10989686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5F8C2-111B-5352-5128-7126DF285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54D73-0C98-1BCC-AF71-A634817E2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0869" y="283266"/>
            <a:ext cx="6564573" cy="805366"/>
          </a:xfrm>
        </p:spPr>
        <p:txBody>
          <a:bodyPr wrap="square" anchor="ctr">
            <a:noAutofit/>
          </a:bodyPr>
          <a:lstStyle/>
          <a:p>
            <a:pPr algn="ctr"/>
            <a:r>
              <a:rPr sz="3200" b="1">
                <a:solidFill>
                  <a:srgbClr val="0066BE"/>
                </a:solidFill>
                <a:latin typeface="Arial"/>
              </a:rPr>
              <a:t>CONCLUSION AND FUTURE SCOPE</a:t>
            </a:r>
            <a:endParaRPr lang="en-US" sz="4000" b="1" dirty="0">
              <a:solidFill>
                <a:srgbClr val="0070C0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A0B0B4-0323-82D4-C481-9A75F01F0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961B71F-4B40-8942-BB88-E0F5C0B46E10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 dirty="0"/>
          </a:p>
        </p:txBody>
      </p:sp>
      <p:sp>
        <p:nvSpPr>
          <p:cNvPr id="14" name="Rounded Rectangle 13"/>
          <p:cNvSpPr/>
          <p:nvPr/>
        </p:nvSpPr>
        <p:spPr>
          <a:xfrm>
            <a:off x="868680" y="1417320"/>
            <a:ext cx="4846320" cy="3474720"/>
          </a:xfrm>
          <a:prstGeom prst="roundRect">
            <a:avLst/>
          </a:prstGeom>
          <a:solidFill>
            <a:srgbClr val="F1F7FC"/>
          </a:solidFill>
          <a:ln w="1524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l"/>
            <a:r>
              <a:rPr sz="1700" b="0">
                <a:solidFill>
                  <a:srgbClr val="1E2D41"/>
                </a:solidFill>
                <a:latin typeface="Arial"/>
              </a:rPr>
              <a:t>CONCLUSION
The proposed system converts a staff-dependent shipment process into a self-service workflow. It combines a mobile interface, REST API and normalized MySQL database to support secure booking, tracking, cancellation and history while demonstrating core DBSE/DBD concepts.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417320"/>
            <a:ext cx="4846320" cy="3474720"/>
          </a:xfrm>
          <a:prstGeom prst="roundRect">
            <a:avLst/>
          </a:prstGeom>
          <a:solidFill>
            <a:srgbClr val="F6FBF7"/>
          </a:solidFill>
          <a:ln w="15240">
            <a:solidFill>
              <a:srgbClr val="BEDC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l"/>
            <a:r>
              <a:rPr sz="1700" b="0">
                <a:solidFill>
                  <a:srgbClr val="1E2D41"/>
                </a:solidFill>
                <a:latin typeface="Arial"/>
              </a:rPr>
              <a:t>FUTURE SCOPE
• Real-time GPS tracking
• Push notifications for status changes
• Online payment integration
• Delivery partner/driver module
• Analytics dashboard for shipment performance
• Cloud deployment and scalability enhancements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57400" y="5212080"/>
            <a:ext cx="804672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/>
            <a:r>
              <a:rPr sz="1600" b="1">
                <a:solidFill>
                  <a:srgbClr val="00AA55"/>
                </a:solidFill>
                <a:latin typeface="Arial"/>
              </a:rPr>
              <a:t>Expected outcome: faster self-service operations, better visibility and stronger data integrity.</a:t>
            </a:r>
          </a:p>
        </p:txBody>
      </p:sp>
    </p:spTree>
    <p:extLst>
      <p:ext uri="{BB962C8B-B14F-4D97-AF65-F5344CB8AC3E}">
        <p14:creationId xmlns:p14="http://schemas.microsoft.com/office/powerpoint/2010/main" val="17490094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 wrap="square">
            <a:normAutofit/>
          </a:bodyPr>
          <a:lstStyle/>
          <a:p>
            <a:pPr marL="0" indent="0" algn="ctr">
              <a:buNone/>
            </a:pPr>
            <a:r>
              <a:rPr sz="4200" b="1">
                <a:solidFill>
                  <a:srgbClr val="0066BE"/>
                </a:solidFill>
                <a:latin typeface="Arial"/>
              </a:rPr>
              <a:t>THANK YOU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12</a:t>
            </a:fld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1828800" y="3063240"/>
            <a:ext cx="8138160" cy="685800"/>
          </a:xfrm>
          <a:prstGeom prst="roundRect">
            <a:avLst/>
          </a:prstGeom>
          <a:solidFill>
            <a:srgbClr val="F1F7FC"/>
          </a:solidFill>
          <a:ln w="1524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/>
            <a:r>
              <a:rPr sz="2000" b="1">
                <a:solidFill>
                  <a:srgbClr val="1E2D41"/>
                </a:solidFill>
                <a:latin typeface="Arial"/>
              </a:rPr>
              <a:t>Logistics &amp; Supply Chain Mobile App for Shipper Self-Service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69080" y="4069080"/>
            <a:ext cx="3840480" cy="594360"/>
          </a:xfrm>
          <a:prstGeom prst="roundRect">
            <a:avLst/>
          </a:prstGeom>
          <a:solidFill>
            <a:srgbClr val="0066BE"/>
          </a:solidFill>
          <a:ln w="15240">
            <a:solidFill>
              <a:srgbClr val="0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Questions &amp; Discussion</a:t>
            </a:r>
          </a:p>
        </p:txBody>
      </p:sp>
    </p:spTree>
    <p:extLst>
      <p:ext uri="{BB962C8B-B14F-4D97-AF65-F5344CB8AC3E}">
        <p14:creationId xmlns:p14="http://schemas.microsoft.com/office/powerpoint/2010/main" val="4213958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8234</TotalTime>
  <Words>861</Words>
  <Application>Microsoft Office PowerPoint</Application>
  <PresentationFormat>Widescreen</PresentationFormat>
  <Paragraphs>145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Custom Design</vt:lpstr>
      <vt:lpstr>Logistics &amp; Supply Chain Mobile App for Shipper Self-Service</vt:lpstr>
      <vt:lpstr>GROUP NUMBER: 18 | SECTION: 9</vt:lpstr>
      <vt:lpstr>ABSTRACT</vt:lpstr>
      <vt:lpstr>INTRODUCTION</vt:lpstr>
      <vt:lpstr>EXISTING SYSTEM</vt:lpstr>
      <vt:lpstr>PROBLEM</vt:lpstr>
      <vt:lpstr>SOLUTION (Contribution)</vt:lpstr>
      <vt:lpstr>OBJECTIVES</vt:lpstr>
      <vt:lpstr>MODULES</vt:lpstr>
      <vt:lpstr>SOFTWARE REQUIREMENTS</vt:lpstr>
      <vt:lpstr>CONCLUSION AND FUTURE SCOPE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SHAHANA BANO</dc:creator>
  <cp:lastModifiedBy>sashankbalireddy@gmail.com</cp:lastModifiedBy>
  <cp:revision>96</cp:revision>
  <dcterms:created xsi:type="dcterms:W3CDTF">2022-05-20T10:20:31Z</dcterms:created>
  <dcterms:modified xsi:type="dcterms:W3CDTF">2026-08-18T03:17:12Z</dcterms:modified>
</cp:coreProperties>
</file>